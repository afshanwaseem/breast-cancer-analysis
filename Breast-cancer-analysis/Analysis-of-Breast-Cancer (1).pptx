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71" r:id="rId8"/>
    <p:sldId id="264" r:id="rId9"/>
    <p:sldId id="263" r:id="rId10"/>
    <p:sldId id="267" r:id="rId11"/>
    <p:sldId id="266" r:id="rId12"/>
    <p:sldId id="268" r:id="rId13"/>
    <p:sldId id="269" r:id="rId14"/>
    <p:sldId id="270" r:id="rId15"/>
    <p:sldId id="265" r:id="rId16"/>
  </p:sldIdLst>
  <p:sldSz cx="11430000" cy="8407400"/>
  <p:notesSz cx="11430000" cy="8407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4660"/>
  </p:normalViewPr>
  <p:slideViewPr>
    <p:cSldViewPr>
      <p:cViewPr varScale="1">
        <p:scale>
          <a:sx n="63" d="100"/>
          <a:sy n="63" d="100"/>
        </p:scale>
        <p:origin x="160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23068"/>
            <a:ext cx="10255250" cy="565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3625" y="2755264"/>
            <a:ext cx="5690234" cy="1663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84071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2204243"/>
            <a:ext cx="5252085" cy="565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25" dirty="0"/>
              <a:t>Analysis</a:t>
            </a:r>
            <a:r>
              <a:rPr spc="-110" dirty="0"/>
              <a:t> </a:t>
            </a:r>
            <a:r>
              <a:rPr spc="-225" dirty="0"/>
              <a:t>of</a:t>
            </a:r>
            <a:r>
              <a:rPr spc="-105" dirty="0"/>
              <a:t> </a:t>
            </a:r>
            <a:r>
              <a:rPr spc="-280" dirty="0"/>
              <a:t>Breast</a:t>
            </a:r>
            <a:r>
              <a:rPr spc="-110" dirty="0"/>
              <a:t> </a:t>
            </a:r>
            <a:r>
              <a:rPr spc="-185" dirty="0"/>
              <a:t>Cancer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73625" y="3441700"/>
            <a:ext cx="5951855" cy="12030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4300"/>
              </a:lnSpc>
              <a:spcBef>
                <a:spcPts val="100"/>
              </a:spcBef>
            </a:pPr>
            <a:r>
              <a:rPr lang="en-US" sz="1700" b="1" dirty="0">
                <a:latin typeface="Tahoma"/>
                <a:cs typeface="Tahoma"/>
              </a:rPr>
              <a:t>Group Members:</a:t>
            </a:r>
          </a:p>
          <a:p>
            <a:pPr marL="12700" marR="5080" algn="just">
              <a:lnSpc>
                <a:spcPct val="134300"/>
              </a:lnSpc>
              <a:spcBef>
                <a:spcPts val="100"/>
              </a:spcBef>
            </a:pPr>
            <a:r>
              <a:rPr lang="en-US" sz="1350" b="1" dirty="0">
                <a:latin typeface="Tahoma"/>
                <a:cs typeface="Tahoma"/>
              </a:rPr>
              <a:t>Afshan Waseem(232561)</a:t>
            </a:r>
          </a:p>
          <a:p>
            <a:pPr marL="12700" marR="5080" algn="just">
              <a:lnSpc>
                <a:spcPct val="134300"/>
              </a:lnSpc>
              <a:spcBef>
                <a:spcPts val="100"/>
              </a:spcBef>
            </a:pPr>
            <a:r>
              <a:rPr lang="en-US" sz="1350" b="1" dirty="0">
                <a:latin typeface="Tahoma"/>
                <a:cs typeface="Tahoma"/>
              </a:rPr>
              <a:t>Owais Farooq(232566)</a:t>
            </a:r>
          </a:p>
          <a:p>
            <a:pPr marL="12700" marR="5080" algn="just">
              <a:lnSpc>
                <a:spcPct val="134300"/>
              </a:lnSpc>
              <a:spcBef>
                <a:spcPts val="100"/>
              </a:spcBef>
            </a:pPr>
            <a:r>
              <a:rPr lang="en-US" sz="1350" b="1" dirty="0" err="1">
                <a:latin typeface="Tahoma"/>
                <a:cs typeface="Tahoma"/>
              </a:rPr>
              <a:t>Eman</a:t>
            </a:r>
            <a:r>
              <a:rPr lang="en-US" sz="1350" b="1" dirty="0">
                <a:latin typeface="Tahoma"/>
                <a:cs typeface="Tahoma"/>
              </a:rPr>
              <a:t> </a:t>
            </a:r>
            <a:r>
              <a:rPr lang="en-US" sz="1350" b="1" dirty="0" err="1">
                <a:latin typeface="Tahoma"/>
                <a:cs typeface="Tahoma"/>
              </a:rPr>
              <a:t>Rohail</a:t>
            </a:r>
            <a:r>
              <a:rPr lang="en-US" sz="1350" b="1" dirty="0">
                <a:latin typeface="Tahoma"/>
                <a:cs typeface="Tahoma"/>
              </a:rPr>
              <a:t>(232576)</a:t>
            </a:r>
            <a:endParaRPr sz="1350" b="1" dirty="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253"/>
            <a:ext cx="6096000" cy="840714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413668"/>
            <a:ext cx="4101465" cy="112776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15"/>
              </a:spcBef>
            </a:pPr>
            <a:r>
              <a:rPr spc="-280" dirty="0"/>
              <a:t>Data</a:t>
            </a:r>
            <a:r>
              <a:rPr spc="-90" dirty="0"/>
              <a:t> </a:t>
            </a:r>
            <a:r>
              <a:rPr spc="-195" dirty="0"/>
              <a:t>Collection</a:t>
            </a:r>
            <a:r>
              <a:rPr spc="-80" dirty="0"/>
              <a:t> </a:t>
            </a:r>
            <a:r>
              <a:rPr spc="-280" dirty="0"/>
              <a:t>and </a:t>
            </a:r>
            <a:r>
              <a:rPr spc="-80" dirty="0"/>
              <a:t>Cleaning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00075" y="2847974"/>
            <a:ext cx="2886075" cy="2124075"/>
            <a:chOff x="600075" y="2847974"/>
            <a:chExt cx="2886075" cy="2124075"/>
          </a:xfrm>
        </p:grpSpPr>
        <p:sp>
          <p:nvSpPr>
            <p:cNvPr id="7" name="object 7"/>
            <p:cNvSpPr/>
            <p:nvPr/>
          </p:nvSpPr>
          <p:spPr>
            <a:xfrm>
              <a:off x="604837" y="2852737"/>
              <a:ext cx="2876550" cy="2114550"/>
            </a:xfrm>
            <a:custGeom>
              <a:avLst/>
              <a:gdLst/>
              <a:ahLst/>
              <a:cxnLst/>
              <a:rect l="l" t="t" r="r" b="b"/>
              <a:pathLst>
                <a:path w="2876550" h="2114550">
                  <a:moveTo>
                    <a:pt x="2824937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2059305"/>
                  </a:lnTo>
                  <a:lnTo>
                    <a:pt x="0" y="2062937"/>
                  </a:lnTo>
                  <a:lnTo>
                    <a:pt x="18747" y="2100935"/>
                  </a:lnTo>
                  <a:lnTo>
                    <a:pt x="51619" y="2114550"/>
                  </a:lnTo>
                  <a:lnTo>
                    <a:pt x="2824937" y="2114550"/>
                  </a:lnTo>
                  <a:lnTo>
                    <a:pt x="2862935" y="2095804"/>
                  </a:lnTo>
                  <a:lnTo>
                    <a:pt x="2876550" y="2062937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4837" y="2852737"/>
              <a:ext cx="2876550" cy="2114550"/>
            </a:xfrm>
            <a:custGeom>
              <a:avLst/>
              <a:gdLst/>
              <a:ahLst/>
              <a:cxnLst/>
              <a:rect l="l" t="t" r="r" b="b"/>
              <a:pathLst>
                <a:path w="2876550" h="2114550">
                  <a:moveTo>
                    <a:pt x="0" y="205930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72346" y="34099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059305"/>
                  </a:lnTo>
                  <a:lnTo>
                    <a:pt x="2876550" y="2062937"/>
                  </a:lnTo>
                  <a:lnTo>
                    <a:pt x="2876194" y="2066518"/>
                  </a:lnTo>
                  <a:lnTo>
                    <a:pt x="2875483" y="2070087"/>
                  </a:lnTo>
                  <a:lnTo>
                    <a:pt x="2874784" y="2073643"/>
                  </a:lnTo>
                  <a:lnTo>
                    <a:pt x="2852000" y="2105240"/>
                  </a:lnTo>
                  <a:lnTo>
                    <a:pt x="2832074" y="2113483"/>
                  </a:lnTo>
                  <a:lnTo>
                    <a:pt x="2828518" y="2114194"/>
                  </a:lnTo>
                  <a:lnTo>
                    <a:pt x="2824937" y="2114550"/>
                  </a:lnTo>
                  <a:lnTo>
                    <a:pt x="2821305" y="2114550"/>
                  </a:lnTo>
                  <a:lnTo>
                    <a:pt x="55245" y="2114550"/>
                  </a:lnTo>
                  <a:lnTo>
                    <a:pt x="51619" y="2114550"/>
                  </a:lnTo>
                  <a:lnTo>
                    <a:pt x="48026" y="2114194"/>
                  </a:lnTo>
                  <a:lnTo>
                    <a:pt x="44465" y="2113483"/>
                  </a:lnTo>
                  <a:lnTo>
                    <a:pt x="40907" y="2112784"/>
                  </a:lnTo>
                  <a:lnTo>
                    <a:pt x="9311" y="2089988"/>
                  </a:lnTo>
                  <a:lnTo>
                    <a:pt x="7292" y="2086978"/>
                  </a:lnTo>
                  <a:lnTo>
                    <a:pt x="5590" y="2083803"/>
                  </a:lnTo>
                  <a:lnTo>
                    <a:pt x="4207" y="2080450"/>
                  </a:lnTo>
                  <a:lnTo>
                    <a:pt x="2818" y="2077085"/>
                  </a:lnTo>
                  <a:lnTo>
                    <a:pt x="1771" y="2073643"/>
                  </a:lnTo>
                  <a:lnTo>
                    <a:pt x="1061" y="2070087"/>
                  </a:lnTo>
                  <a:lnTo>
                    <a:pt x="351" y="2066518"/>
                  </a:lnTo>
                  <a:lnTo>
                    <a:pt x="0" y="2062937"/>
                  </a:lnTo>
                  <a:lnTo>
                    <a:pt x="0" y="2059305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68350" y="2991294"/>
            <a:ext cx="2540635" cy="121539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130" dirty="0">
                <a:solidFill>
                  <a:srgbClr val="262424"/>
                </a:solidFill>
                <a:latin typeface="Georgia"/>
                <a:cs typeface="Georgia"/>
              </a:rPr>
              <a:t>Data</a:t>
            </a:r>
            <a:r>
              <a:rPr sz="1750" b="1" spc="-4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750" b="1" spc="-10" dirty="0">
                <a:solidFill>
                  <a:srgbClr val="262424"/>
                </a:solidFill>
                <a:latin typeface="Georgia"/>
                <a:cs typeface="Georgia"/>
              </a:rPr>
              <a:t>Collection</a:t>
            </a:r>
            <a:endParaRPr lang="en-US" sz="1750" b="1" spc="-10" dirty="0">
              <a:solidFill>
                <a:srgbClr val="262424"/>
              </a:solidFill>
              <a:latin typeface="Georgia"/>
              <a:cs typeface="Georgia"/>
            </a:endParaRPr>
          </a:p>
          <a:p>
            <a:pPr marL="12700" marR="5080">
              <a:lnSpc>
                <a:spcPct val="133100"/>
              </a:lnSpc>
              <a:spcBef>
                <a:spcPts val="765"/>
              </a:spcBef>
            </a:pPr>
            <a:r>
              <a:rPr lang="en-US" sz="1400" dirty="0"/>
              <a:t>We collected our data by conducting a survey of cancer patients at </a:t>
            </a:r>
            <a:r>
              <a:rPr lang="en-US" sz="1400" b="1" dirty="0"/>
              <a:t>NORI Hospital.</a:t>
            </a:r>
            <a:endParaRPr lang="en-US" sz="1350" b="1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0552" y="5422900"/>
            <a:ext cx="2886075" cy="2124075"/>
            <a:chOff x="3657600" y="2847974"/>
            <a:chExt cx="2886075" cy="2124075"/>
          </a:xfrm>
        </p:grpSpPr>
        <p:sp>
          <p:nvSpPr>
            <p:cNvPr id="11" name="object 11"/>
            <p:cNvSpPr/>
            <p:nvPr/>
          </p:nvSpPr>
          <p:spPr>
            <a:xfrm>
              <a:off x="3662362" y="2852737"/>
              <a:ext cx="2876550" cy="2114550"/>
            </a:xfrm>
            <a:custGeom>
              <a:avLst/>
              <a:gdLst/>
              <a:ahLst/>
              <a:cxnLst/>
              <a:rect l="l" t="t" r="r" b="b"/>
              <a:pathLst>
                <a:path w="2876550" h="2114550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059305"/>
                  </a:lnTo>
                  <a:lnTo>
                    <a:pt x="0" y="2062937"/>
                  </a:lnTo>
                  <a:lnTo>
                    <a:pt x="18745" y="2100935"/>
                  </a:lnTo>
                  <a:lnTo>
                    <a:pt x="51612" y="2114550"/>
                  </a:lnTo>
                  <a:lnTo>
                    <a:pt x="2824937" y="2114550"/>
                  </a:lnTo>
                  <a:lnTo>
                    <a:pt x="2862935" y="2095804"/>
                  </a:lnTo>
                  <a:lnTo>
                    <a:pt x="2876550" y="2062937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62362" y="2852737"/>
              <a:ext cx="2876550" cy="2114550"/>
            </a:xfrm>
            <a:custGeom>
              <a:avLst/>
              <a:gdLst/>
              <a:ahLst/>
              <a:cxnLst/>
              <a:rect l="l" t="t" r="r" b="b"/>
              <a:pathLst>
                <a:path w="2876550" h="2114550">
                  <a:moveTo>
                    <a:pt x="0" y="205930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059305"/>
                  </a:lnTo>
                  <a:lnTo>
                    <a:pt x="2876550" y="2062937"/>
                  </a:lnTo>
                  <a:lnTo>
                    <a:pt x="2876194" y="2066518"/>
                  </a:lnTo>
                  <a:lnTo>
                    <a:pt x="2875483" y="2070087"/>
                  </a:lnTo>
                  <a:lnTo>
                    <a:pt x="2874784" y="2073643"/>
                  </a:lnTo>
                  <a:lnTo>
                    <a:pt x="2860370" y="2098370"/>
                  </a:lnTo>
                  <a:lnTo>
                    <a:pt x="2857804" y="2100935"/>
                  </a:lnTo>
                  <a:lnTo>
                    <a:pt x="2832074" y="2113483"/>
                  </a:lnTo>
                  <a:lnTo>
                    <a:pt x="2828518" y="2114194"/>
                  </a:lnTo>
                  <a:lnTo>
                    <a:pt x="2824937" y="2114550"/>
                  </a:lnTo>
                  <a:lnTo>
                    <a:pt x="2821305" y="2114550"/>
                  </a:lnTo>
                  <a:lnTo>
                    <a:pt x="55245" y="2114550"/>
                  </a:lnTo>
                  <a:lnTo>
                    <a:pt x="51612" y="2114550"/>
                  </a:lnTo>
                  <a:lnTo>
                    <a:pt x="48018" y="2114194"/>
                  </a:lnTo>
                  <a:lnTo>
                    <a:pt x="44462" y="2113483"/>
                  </a:lnTo>
                  <a:lnTo>
                    <a:pt x="40906" y="2112784"/>
                  </a:lnTo>
                  <a:lnTo>
                    <a:pt x="9309" y="2089988"/>
                  </a:lnTo>
                  <a:lnTo>
                    <a:pt x="7289" y="2086978"/>
                  </a:lnTo>
                  <a:lnTo>
                    <a:pt x="1066" y="2070087"/>
                  </a:lnTo>
                  <a:lnTo>
                    <a:pt x="355" y="2066518"/>
                  </a:lnTo>
                  <a:lnTo>
                    <a:pt x="0" y="2062937"/>
                  </a:lnTo>
                  <a:lnTo>
                    <a:pt x="0" y="2059305"/>
                  </a:lnTo>
                  <a:close/>
                </a:path>
              </a:pathLst>
            </a:custGeom>
            <a:ln w="9525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AC26A2D-1FC8-79CC-8A83-AAC4EA96EC1C}"/>
              </a:ext>
            </a:extLst>
          </p:cNvPr>
          <p:cNvSpPr txBox="1"/>
          <p:nvPr/>
        </p:nvSpPr>
        <p:spPr>
          <a:xfrm>
            <a:off x="640080" y="5499100"/>
            <a:ext cx="2668905" cy="1474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350" b="1" spc="-130" dirty="0">
                <a:solidFill>
                  <a:srgbClr val="262424"/>
                </a:solidFill>
                <a:latin typeface="Georgia"/>
                <a:cs typeface="Georgia"/>
              </a:rPr>
              <a:t>Data</a:t>
            </a:r>
            <a:r>
              <a:rPr lang="en-US" sz="1350" b="1" spc="-4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lang="en-US" sz="1350" b="1" spc="-10" dirty="0">
                <a:solidFill>
                  <a:srgbClr val="262424"/>
                </a:solidFill>
                <a:latin typeface="Georgia"/>
                <a:cs typeface="Georgia"/>
              </a:rPr>
              <a:t>Cleaning</a:t>
            </a:r>
          </a:p>
          <a:p>
            <a:pPr marL="12700" marR="5080">
              <a:lnSpc>
                <a:spcPct val="133100"/>
              </a:lnSpc>
              <a:spcBef>
                <a:spcPts val="765"/>
              </a:spcBef>
            </a:pPr>
            <a:r>
              <a:rPr lang="en-US" sz="1350" dirty="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lang="en-US" sz="135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lang="en-US" sz="1350" spc="55" dirty="0">
                <a:solidFill>
                  <a:srgbClr val="262424"/>
                </a:solidFill>
                <a:latin typeface="Tahoma"/>
                <a:cs typeface="Tahoma"/>
              </a:rPr>
              <a:t>cleaning</a:t>
            </a:r>
            <a:r>
              <a:rPr lang="en-US" sz="135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lang="en-US" sz="1350" spc="-10" dirty="0">
                <a:solidFill>
                  <a:srgbClr val="262424"/>
                </a:solidFill>
                <a:latin typeface="Tahoma"/>
                <a:cs typeface="Tahoma"/>
              </a:rPr>
              <a:t>involved</a:t>
            </a:r>
            <a:r>
              <a:rPr lang="en-US" sz="1350" spc="1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lang="en-US" sz="1350" spc="-10" dirty="0">
                <a:solidFill>
                  <a:srgbClr val="262424"/>
                </a:solidFill>
                <a:latin typeface="Tahoma"/>
                <a:cs typeface="Tahoma"/>
              </a:rPr>
              <a:t>handling </a:t>
            </a:r>
            <a:r>
              <a:rPr lang="en-US" sz="1350" spc="50" dirty="0">
                <a:solidFill>
                  <a:srgbClr val="262424"/>
                </a:solidFill>
                <a:latin typeface="Tahoma"/>
                <a:cs typeface="Tahoma"/>
              </a:rPr>
              <a:t>missing</a:t>
            </a:r>
            <a:r>
              <a:rPr lang="en-US" sz="1350" spc="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lang="en-US" sz="1350" dirty="0">
                <a:solidFill>
                  <a:srgbClr val="262424"/>
                </a:solidFill>
                <a:latin typeface="Tahoma"/>
                <a:cs typeface="Tahoma"/>
              </a:rPr>
              <a:t>values,</a:t>
            </a:r>
            <a:r>
              <a:rPr lang="en-US" sz="1350" spc="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lang="en-US" sz="13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lang="en-US" sz="1350" spc="10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lang="en-US" sz="1350" spc="40" dirty="0">
                <a:solidFill>
                  <a:srgbClr val="262424"/>
                </a:solidFill>
                <a:latin typeface="Tahoma"/>
                <a:cs typeface="Tahoma"/>
              </a:rPr>
              <a:t>correcting </a:t>
            </a:r>
            <a:r>
              <a:rPr lang="en-US" sz="1350" spc="60" dirty="0">
                <a:solidFill>
                  <a:srgbClr val="262424"/>
                </a:solidFill>
                <a:latin typeface="Tahoma"/>
                <a:cs typeface="Tahoma"/>
              </a:rPr>
              <a:t>inconsistencies</a:t>
            </a:r>
            <a:r>
              <a:rPr lang="en-US"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lang="en-US" sz="135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lang="en-US" sz="1350" spc="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lang="en-US" sz="1350" spc="45" dirty="0">
                <a:solidFill>
                  <a:srgbClr val="262424"/>
                </a:solidFill>
                <a:latin typeface="Tahoma"/>
                <a:cs typeface="Tahoma"/>
              </a:rPr>
              <a:t>accurate </a:t>
            </a:r>
            <a:r>
              <a:rPr lang="en-US" sz="1350" spc="-10" dirty="0">
                <a:solidFill>
                  <a:srgbClr val="262424"/>
                </a:solidFill>
                <a:latin typeface="Tahoma"/>
                <a:cs typeface="Tahoma"/>
              </a:rPr>
              <a:t>analysis.</a:t>
            </a:r>
            <a:endParaRPr lang="en-US" sz="1350" dirty="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7"/>
            <a:ext cx="4286250" cy="84068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298950">
              <a:lnSpc>
                <a:spcPct val="100000"/>
              </a:lnSpc>
              <a:spcBef>
                <a:spcPts val="90"/>
              </a:spcBef>
            </a:pPr>
            <a:r>
              <a:rPr spc="-195" dirty="0"/>
              <a:t>Objective</a:t>
            </a:r>
          </a:p>
        </p:txBody>
      </p:sp>
      <p:sp>
        <p:nvSpPr>
          <p:cNvPr id="4" name="object 4"/>
          <p:cNvSpPr/>
          <p:nvPr/>
        </p:nvSpPr>
        <p:spPr>
          <a:xfrm>
            <a:off x="4980089" y="1322196"/>
            <a:ext cx="241300" cy="368935"/>
          </a:xfrm>
          <a:custGeom>
            <a:avLst/>
            <a:gdLst/>
            <a:ahLst/>
            <a:cxnLst/>
            <a:rect l="l" t="t" r="r" b="b"/>
            <a:pathLst>
              <a:path w="241300" h="368935">
                <a:moveTo>
                  <a:pt x="202902" y="26784"/>
                </a:moveTo>
                <a:lnTo>
                  <a:pt x="133946" y="26784"/>
                </a:lnTo>
                <a:lnTo>
                  <a:pt x="165218" y="33101"/>
                </a:lnTo>
                <a:lnTo>
                  <a:pt x="190765" y="50326"/>
                </a:lnTo>
                <a:lnTo>
                  <a:pt x="207993" y="75872"/>
                </a:lnTo>
                <a:lnTo>
                  <a:pt x="214312" y="107149"/>
                </a:lnTo>
                <a:lnTo>
                  <a:pt x="212491" y="122642"/>
                </a:lnTo>
                <a:lnTo>
                  <a:pt x="207224" y="137107"/>
                </a:lnTo>
                <a:lnTo>
                  <a:pt x="198801" y="149989"/>
                </a:lnTo>
                <a:lnTo>
                  <a:pt x="187515" y="160731"/>
                </a:lnTo>
                <a:lnTo>
                  <a:pt x="136626" y="198907"/>
                </a:lnTo>
                <a:lnTo>
                  <a:pt x="124177" y="210715"/>
                </a:lnTo>
                <a:lnTo>
                  <a:pt x="114915" y="224885"/>
                </a:lnTo>
                <a:lnTo>
                  <a:pt x="109141" y="240798"/>
                </a:lnTo>
                <a:lnTo>
                  <a:pt x="107149" y="257835"/>
                </a:lnTo>
                <a:lnTo>
                  <a:pt x="107149" y="275247"/>
                </a:lnTo>
                <a:lnTo>
                  <a:pt x="113182" y="281279"/>
                </a:lnTo>
                <a:lnTo>
                  <a:pt x="127914" y="281279"/>
                </a:lnTo>
                <a:lnTo>
                  <a:pt x="133946" y="275247"/>
                </a:lnTo>
                <a:lnTo>
                  <a:pt x="133946" y="257835"/>
                </a:lnTo>
                <a:lnTo>
                  <a:pt x="135216" y="247008"/>
                </a:lnTo>
                <a:lnTo>
                  <a:pt x="138895" y="236888"/>
                </a:lnTo>
                <a:lnTo>
                  <a:pt x="144785" y="227865"/>
                </a:lnTo>
                <a:lnTo>
                  <a:pt x="152692" y="220332"/>
                </a:lnTo>
                <a:lnTo>
                  <a:pt x="203593" y="182156"/>
                </a:lnTo>
                <a:lnTo>
                  <a:pt x="219413" y="167107"/>
                </a:lnTo>
                <a:lnTo>
                  <a:pt x="231198" y="149082"/>
                </a:lnTo>
                <a:lnTo>
                  <a:pt x="238557" y="128842"/>
                </a:lnTo>
                <a:lnTo>
                  <a:pt x="241096" y="107149"/>
                </a:lnTo>
                <a:lnTo>
                  <a:pt x="232677" y="65434"/>
                </a:lnTo>
                <a:lnTo>
                  <a:pt x="209715" y="31376"/>
                </a:lnTo>
                <a:lnTo>
                  <a:pt x="202902" y="26784"/>
                </a:lnTo>
                <a:close/>
              </a:path>
              <a:path w="241300" h="368935">
                <a:moveTo>
                  <a:pt x="133946" y="0"/>
                </a:moveTo>
                <a:lnTo>
                  <a:pt x="107149" y="0"/>
                </a:lnTo>
                <a:lnTo>
                  <a:pt x="65440" y="8417"/>
                </a:lnTo>
                <a:lnTo>
                  <a:pt x="31381" y="31376"/>
                </a:lnTo>
                <a:lnTo>
                  <a:pt x="8419" y="65434"/>
                </a:lnTo>
                <a:lnTo>
                  <a:pt x="0" y="107149"/>
                </a:lnTo>
                <a:lnTo>
                  <a:pt x="0" y="114515"/>
                </a:lnTo>
                <a:lnTo>
                  <a:pt x="6019" y="120548"/>
                </a:lnTo>
                <a:lnTo>
                  <a:pt x="20764" y="120548"/>
                </a:lnTo>
                <a:lnTo>
                  <a:pt x="26784" y="114515"/>
                </a:lnTo>
                <a:lnTo>
                  <a:pt x="26784" y="107149"/>
                </a:lnTo>
                <a:lnTo>
                  <a:pt x="33103" y="75872"/>
                </a:lnTo>
                <a:lnTo>
                  <a:pt x="50331" y="50326"/>
                </a:lnTo>
                <a:lnTo>
                  <a:pt x="75877" y="33101"/>
                </a:lnTo>
                <a:lnTo>
                  <a:pt x="107149" y="26784"/>
                </a:lnTo>
                <a:lnTo>
                  <a:pt x="202902" y="26784"/>
                </a:lnTo>
                <a:lnTo>
                  <a:pt x="175656" y="8417"/>
                </a:lnTo>
                <a:lnTo>
                  <a:pt x="133946" y="0"/>
                </a:lnTo>
                <a:close/>
              </a:path>
              <a:path w="241300" h="368935">
                <a:moveTo>
                  <a:pt x="123215" y="328155"/>
                </a:moveTo>
                <a:lnTo>
                  <a:pt x="117881" y="328155"/>
                </a:lnTo>
                <a:lnTo>
                  <a:pt x="115316" y="328663"/>
                </a:lnTo>
                <a:lnTo>
                  <a:pt x="100457" y="345579"/>
                </a:lnTo>
                <a:lnTo>
                  <a:pt x="100457" y="350913"/>
                </a:lnTo>
                <a:lnTo>
                  <a:pt x="117881" y="368338"/>
                </a:lnTo>
                <a:lnTo>
                  <a:pt x="123215" y="368338"/>
                </a:lnTo>
                <a:lnTo>
                  <a:pt x="140639" y="350913"/>
                </a:lnTo>
                <a:lnTo>
                  <a:pt x="140639" y="345579"/>
                </a:lnTo>
                <a:lnTo>
                  <a:pt x="123215" y="328155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73625" y="1857819"/>
            <a:ext cx="2764155" cy="175196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10" dirty="0">
                <a:solidFill>
                  <a:srgbClr val="262424"/>
                </a:solidFill>
                <a:latin typeface="Georgia"/>
                <a:cs typeface="Georgia"/>
              </a:rPr>
              <a:t>Recovery</a:t>
            </a:r>
            <a:r>
              <a:rPr lang="en-US" sz="1750" b="1" spc="-10" dirty="0">
                <a:solidFill>
                  <a:srgbClr val="262424"/>
                </a:solidFill>
                <a:latin typeface="Georgia"/>
                <a:cs typeface="Georgia"/>
              </a:rPr>
              <a:t> Rate </a:t>
            </a:r>
            <a:endParaRPr sz="1750" dirty="0">
              <a:latin typeface="Georgia"/>
              <a:cs typeface="Georgia"/>
            </a:endParaRPr>
          </a:p>
          <a:p>
            <a:pPr marL="12700" marR="5080">
              <a:lnSpc>
                <a:spcPct val="133100"/>
              </a:lnSpc>
              <a:spcBef>
                <a:spcPts val="690"/>
              </a:spcBef>
            </a:pPr>
            <a:r>
              <a:rPr sz="1350" spc="65" dirty="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sz="1350" spc="-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262424"/>
                </a:solidFill>
                <a:latin typeface="Tahoma"/>
                <a:cs typeface="Tahoma"/>
              </a:rPr>
              <a:t>analysis</a:t>
            </a:r>
            <a:r>
              <a:rPr sz="1350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262424"/>
                </a:solidFill>
                <a:latin typeface="Tahoma"/>
                <a:cs typeface="Tahoma"/>
              </a:rPr>
              <a:t>focuses</a:t>
            </a:r>
            <a:r>
              <a:rPr sz="1350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30" dirty="0">
                <a:solidFill>
                  <a:srgbClr val="262424"/>
                </a:solidFill>
                <a:latin typeface="Tahoma"/>
                <a:cs typeface="Tahoma"/>
              </a:rPr>
              <a:t>on 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identifying</a:t>
            </a:r>
            <a:r>
              <a:rPr sz="1350" spc="1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lang="en-US" sz="1350" spc="55" dirty="0">
                <a:solidFill>
                  <a:srgbClr val="262424"/>
                </a:solidFill>
                <a:latin typeface="Tahoma"/>
                <a:cs typeface="Tahoma"/>
              </a:rPr>
              <a:t>dose</a:t>
            </a:r>
            <a:r>
              <a:rPr sz="1350" spc="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influencing </a:t>
            </a:r>
            <a:r>
              <a:rPr sz="1350" spc="60" dirty="0">
                <a:solidFill>
                  <a:srgbClr val="262424"/>
                </a:solidFill>
                <a:latin typeface="Tahoma"/>
                <a:cs typeface="Tahoma"/>
              </a:rPr>
              <a:t>recovery</a:t>
            </a:r>
            <a:r>
              <a:rPr sz="1350" spc="7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rates</a:t>
            </a:r>
            <a:r>
              <a:rPr sz="1350" spc="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understanding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sz="13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262424"/>
                </a:solidFill>
                <a:latin typeface="Tahoma"/>
                <a:cs typeface="Tahoma"/>
              </a:rPr>
              <a:t>effectiveness</a:t>
            </a:r>
            <a:r>
              <a:rPr sz="13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262424"/>
                </a:solidFill>
                <a:latin typeface="Tahoma"/>
                <a:cs typeface="Tahoma"/>
              </a:rPr>
              <a:t>of</a:t>
            </a:r>
            <a:r>
              <a:rPr sz="13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various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treatment</a:t>
            </a:r>
            <a:r>
              <a:rPr sz="1350" spc="1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approaches.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08149" y="1319212"/>
            <a:ext cx="395605" cy="382270"/>
          </a:xfrm>
          <a:custGeom>
            <a:avLst/>
            <a:gdLst/>
            <a:ahLst/>
            <a:cxnLst/>
            <a:rect l="l" t="t" r="r" b="b"/>
            <a:pathLst>
              <a:path w="395604" h="382269">
                <a:moveTo>
                  <a:pt x="204406" y="0"/>
                </a:moveTo>
                <a:lnTo>
                  <a:pt x="190715" y="0"/>
                </a:lnTo>
                <a:lnTo>
                  <a:pt x="184467" y="3873"/>
                </a:lnTo>
                <a:lnTo>
                  <a:pt x="181495" y="10045"/>
                </a:lnTo>
                <a:lnTo>
                  <a:pt x="130441" y="115189"/>
                </a:lnTo>
                <a:lnTo>
                  <a:pt x="9740" y="133057"/>
                </a:lnTo>
                <a:lnTo>
                  <a:pt x="4165" y="137744"/>
                </a:lnTo>
                <a:lnTo>
                  <a:pt x="44" y="150545"/>
                </a:lnTo>
                <a:lnTo>
                  <a:pt x="0" y="150685"/>
                </a:lnTo>
                <a:lnTo>
                  <a:pt x="1701" y="157683"/>
                </a:lnTo>
                <a:lnTo>
                  <a:pt x="89141" y="244373"/>
                </a:lnTo>
                <a:lnTo>
                  <a:pt x="68529" y="366788"/>
                </a:lnTo>
                <a:lnTo>
                  <a:pt x="71285" y="373557"/>
                </a:lnTo>
                <a:lnTo>
                  <a:pt x="82448" y="381596"/>
                </a:lnTo>
                <a:lnTo>
                  <a:pt x="89738" y="382041"/>
                </a:lnTo>
                <a:lnTo>
                  <a:pt x="145679" y="352132"/>
                </a:lnTo>
                <a:lnTo>
                  <a:pt x="95097" y="352132"/>
                </a:lnTo>
                <a:lnTo>
                  <a:pt x="112585" y="248323"/>
                </a:lnTo>
                <a:lnTo>
                  <a:pt x="113842" y="240652"/>
                </a:lnTo>
                <a:lnTo>
                  <a:pt x="111391" y="232918"/>
                </a:lnTo>
                <a:lnTo>
                  <a:pt x="31699" y="153885"/>
                </a:lnTo>
                <a:lnTo>
                  <a:pt x="141224" y="137744"/>
                </a:lnTo>
                <a:lnTo>
                  <a:pt x="141655" y="137744"/>
                </a:lnTo>
                <a:lnTo>
                  <a:pt x="148450" y="132676"/>
                </a:lnTo>
                <a:lnTo>
                  <a:pt x="197561" y="31483"/>
                </a:lnTo>
                <a:lnTo>
                  <a:pt x="224055" y="31483"/>
                </a:lnTo>
                <a:lnTo>
                  <a:pt x="210654" y="3873"/>
                </a:lnTo>
                <a:lnTo>
                  <a:pt x="204406" y="0"/>
                </a:lnTo>
                <a:close/>
              </a:path>
              <a:path w="395604" h="382269">
                <a:moveTo>
                  <a:pt x="248039" y="324370"/>
                </a:moveTo>
                <a:lnTo>
                  <a:pt x="197637" y="324370"/>
                </a:lnTo>
                <a:lnTo>
                  <a:pt x="305569" y="382041"/>
                </a:lnTo>
                <a:lnTo>
                  <a:pt x="312826" y="381596"/>
                </a:lnTo>
                <a:lnTo>
                  <a:pt x="323850" y="373557"/>
                </a:lnTo>
                <a:lnTo>
                  <a:pt x="326669" y="366788"/>
                </a:lnTo>
                <a:lnTo>
                  <a:pt x="324205" y="352132"/>
                </a:lnTo>
                <a:lnTo>
                  <a:pt x="299961" y="352132"/>
                </a:lnTo>
                <a:lnTo>
                  <a:pt x="248039" y="324370"/>
                </a:lnTo>
                <a:close/>
              </a:path>
              <a:path w="395604" h="382269">
                <a:moveTo>
                  <a:pt x="201803" y="299669"/>
                </a:moveTo>
                <a:lnTo>
                  <a:pt x="193395" y="299669"/>
                </a:lnTo>
                <a:lnTo>
                  <a:pt x="95097" y="352132"/>
                </a:lnTo>
                <a:lnTo>
                  <a:pt x="145679" y="352132"/>
                </a:lnTo>
                <a:lnTo>
                  <a:pt x="197637" y="324370"/>
                </a:lnTo>
                <a:lnTo>
                  <a:pt x="248039" y="324370"/>
                </a:lnTo>
                <a:lnTo>
                  <a:pt x="201803" y="299669"/>
                </a:lnTo>
                <a:close/>
              </a:path>
              <a:path w="395604" h="382269">
                <a:moveTo>
                  <a:pt x="224055" y="31483"/>
                </a:moveTo>
                <a:lnTo>
                  <a:pt x="197561" y="31483"/>
                </a:lnTo>
                <a:lnTo>
                  <a:pt x="246672" y="132676"/>
                </a:lnTo>
                <a:lnTo>
                  <a:pt x="253585" y="137744"/>
                </a:lnTo>
                <a:lnTo>
                  <a:pt x="254374" y="137744"/>
                </a:lnTo>
                <a:lnTo>
                  <a:pt x="363435" y="153885"/>
                </a:lnTo>
                <a:lnTo>
                  <a:pt x="283629" y="232918"/>
                </a:lnTo>
                <a:lnTo>
                  <a:pt x="281127" y="240652"/>
                </a:lnTo>
                <a:lnTo>
                  <a:pt x="282473" y="248323"/>
                </a:lnTo>
                <a:lnTo>
                  <a:pt x="299961" y="352132"/>
                </a:lnTo>
                <a:lnTo>
                  <a:pt x="324205" y="352132"/>
                </a:lnTo>
                <a:lnTo>
                  <a:pt x="305981" y="244373"/>
                </a:lnTo>
                <a:lnTo>
                  <a:pt x="393495" y="157683"/>
                </a:lnTo>
                <a:lnTo>
                  <a:pt x="394436" y="153885"/>
                </a:lnTo>
                <a:lnTo>
                  <a:pt x="395178" y="150685"/>
                </a:lnTo>
                <a:lnTo>
                  <a:pt x="395211" y="150545"/>
                </a:lnTo>
                <a:lnTo>
                  <a:pt x="391045" y="137744"/>
                </a:lnTo>
                <a:lnTo>
                  <a:pt x="385457" y="133057"/>
                </a:lnTo>
                <a:lnTo>
                  <a:pt x="264680" y="115189"/>
                </a:lnTo>
                <a:lnTo>
                  <a:pt x="224055" y="31483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74012" y="1857819"/>
            <a:ext cx="2808605" cy="11698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90" dirty="0">
                <a:solidFill>
                  <a:srgbClr val="262424"/>
                </a:solidFill>
                <a:latin typeface="Georgia"/>
                <a:cs typeface="Georgia"/>
              </a:rPr>
              <a:t>Identifying</a:t>
            </a:r>
            <a:r>
              <a:rPr sz="1750" b="1" spc="-3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750" b="1" spc="-25" dirty="0">
                <a:solidFill>
                  <a:srgbClr val="262424"/>
                </a:solidFill>
                <a:latin typeface="Georgia"/>
                <a:cs typeface="Georgia"/>
              </a:rPr>
              <a:t>Correlations</a:t>
            </a:r>
            <a:endParaRPr sz="1750" dirty="0">
              <a:latin typeface="Georgia"/>
              <a:cs typeface="Georgia"/>
            </a:endParaRPr>
          </a:p>
          <a:p>
            <a:pPr marL="12700" marR="5080">
              <a:lnSpc>
                <a:spcPct val="132700"/>
              </a:lnSpc>
              <a:spcBef>
                <a:spcPts val="695"/>
              </a:spcBef>
            </a:pPr>
            <a:r>
              <a:rPr sz="1350" spc="65" dirty="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sz="135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262424"/>
                </a:solidFill>
                <a:latin typeface="Tahoma"/>
                <a:cs typeface="Tahoma"/>
              </a:rPr>
              <a:t>analysis</a:t>
            </a:r>
            <a:r>
              <a:rPr sz="135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20" dirty="0">
                <a:solidFill>
                  <a:srgbClr val="262424"/>
                </a:solidFill>
                <a:latin typeface="Tahoma"/>
                <a:cs typeface="Tahoma"/>
              </a:rPr>
              <a:t>investigates</a:t>
            </a:r>
            <a:r>
              <a:rPr sz="1350" spc="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potential </a:t>
            </a:r>
            <a:r>
              <a:rPr sz="1350" spc="20" dirty="0">
                <a:solidFill>
                  <a:srgbClr val="262424"/>
                </a:solidFill>
                <a:latin typeface="Tahoma"/>
                <a:cs typeface="Tahoma"/>
              </a:rPr>
              <a:t>correlations</a:t>
            </a:r>
            <a:r>
              <a:rPr sz="1350" spc="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262424"/>
                </a:solidFill>
                <a:latin typeface="Tahoma"/>
                <a:cs typeface="Tahoma"/>
              </a:rPr>
              <a:t>between</a:t>
            </a:r>
            <a:r>
              <a:rPr sz="1350" spc="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262424"/>
                </a:solidFill>
                <a:latin typeface="Tahoma"/>
                <a:cs typeface="Tahoma"/>
              </a:rPr>
              <a:t>factors</a:t>
            </a:r>
            <a:r>
              <a:rPr sz="1350" spc="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like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age,</a:t>
            </a:r>
            <a:r>
              <a:rPr sz="1350" spc="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stage,</a:t>
            </a:r>
            <a:r>
              <a:rPr sz="1350" spc="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treatment</a:t>
            </a:r>
            <a:r>
              <a:rPr sz="1350" spc="1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regimen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88373" y="4165650"/>
            <a:ext cx="423545" cy="423545"/>
          </a:xfrm>
          <a:custGeom>
            <a:avLst/>
            <a:gdLst/>
            <a:ahLst/>
            <a:cxnLst/>
            <a:rect l="l" t="t" r="r" b="b"/>
            <a:pathLst>
              <a:path w="423545" h="423545">
                <a:moveTo>
                  <a:pt x="332856" y="0"/>
                </a:moveTo>
                <a:lnTo>
                  <a:pt x="312702" y="3924"/>
                </a:lnTo>
                <a:lnTo>
                  <a:pt x="294979" y="15697"/>
                </a:lnTo>
                <a:lnTo>
                  <a:pt x="232101" y="78562"/>
                </a:lnTo>
                <a:lnTo>
                  <a:pt x="116912" y="109956"/>
                </a:lnTo>
                <a:lnTo>
                  <a:pt x="77287" y="139779"/>
                </a:lnTo>
                <a:lnTo>
                  <a:pt x="1215" y="385724"/>
                </a:lnTo>
                <a:lnTo>
                  <a:pt x="0" y="393530"/>
                </a:lnTo>
                <a:lnTo>
                  <a:pt x="912" y="401246"/>
                </a:lnTo>
                <a:lnTo>
                  <a:pt x="29812" y="423363"/>
                </a:lnTo>
                <a:lnTo>
                  <a:pt x="37639" y="422135"/>
                </a:lnTo>
                <a:lnTo>
                  <a:pt x="146007" y="389648"/>
                </a:lnTo>
                <a:lnTo>
                  <a:pt x="52612" y="389648"/>
                </a:lnTo>
                <a:lnTo>
                  <a:pt x="71537" y="370725"/>
                </a:lnTo>
                <a:lnTo>
                  <a:pt x="33702" y="370725"/>
                </a:lnTo>
                <a:lnTo>
                  <a:pt x="96059" y="163029"/>
                </a:lnTo>
                <a:lnTo>
                  <a:pt x="123948" y="135826"/>
                </a:lnTo>
                <a:lnTo>
                  <a:pt x="235124" y="105524"/>
                </a:lnTo>
                <a:lnTo>
                  <a:pt x="272957" y="105524"/>
                </a:lnTo>
                <a:lnTo>
                  <a:pt x="258009" y="90576"/>
                </a:lnTo>
                <a:lnTo>
                  <a:pt x="313851" y="34734"/>
                </a:lnTo>
                <a:lnTo>
                  <a:pt x="322681" y="28809"/>
                </a:lnTo>
                <a:lnTo>
                  <a:pt x="332774" y="26847"/>
                </a:lnTo>
                <a:lnTo>
                  <a:pt x="381885" y="26847"/>
                </a:lnTo>
                <a:lnTo>
                  <a:pt x="370734" y="15697"/>
                </a:lnTo>
                <a:lnTo>
                  <a:pt x="353011" y="3924"/>
                </a:lnTo>
                <a:lnTo>
                  <a:pt x="332856" y="0"/>
                </a:lnTo>
                <a:close/>
              </a:path>
              <a:path w="423545" h="423545">
                <a:moveTo>
                  <a:pt x="272957" y="105524"/>
                </a:moveTo>
                <a:lnTo>
                  <a:pt x="235035" y="105524"/>
                </a:lnTo>
                <a:lnTo>
                  <a:pt x="317826" y="188315"/>
                </a:lnTo>
                <a:lnTo>
                  <a:pt x="287524" y="299491"/>
                </a:lnTo>
                <a:lnTo>
                  <a:pt x="260320" y="327367"/>
                </a:lnTo>
                <a:lnTo>
                  <a:pt x="52612" y="389648"/>
                </a:lnTo>
                <a:lnTo>
                  <a:pt x="146007" y="389648"/>
                </a:lnTo>
                <a:lnTo>
                  <a:pt x="268017" y="353072"/>
                </a:lnTo>
                <a:lnTo>
                  <a:pt x="306846" y="322249"/>
                </a:lnTo>
                <a:lnTo>
                  <a:pt x="344788" y="191249"/>
                </a:lnTo>
                <a:lnTo>
                  <a:pt x="370653" y="165379"/>
                </a:lnTo>
                <a:lnTo>
                  <a:pt x="332812" y="165379"/>
                </a:lnTo>
                <a:lnTo>
                  <a:pt x="272957" y="105524"/>
                </a:lnTo>
                <a:close/>
              </a:path>
              <a:path w="423545" h="423545">
                <a:moveTo>
                  <a:pt x="172081" y="197688"/>
                </a:moveTo>
                <a:lnTo>
                  <a:pt x="151241" y="201904"/>
                </a:lnTo>
                <a:lnTo>
                  <a:pt x="134208" y="213396"/>
                </a:lnTo>
                <a:lnTo>
                  <a:pt x="122716" y="230429"/>
                </a:lnTo>
                <a:lnTo>
                  <a:pt x="118499" y="251269"/>
                </a:lnTo>
                <a:lnTo>
                  <a:pt x="118980" y="258241"/>
                </a:lnTo>
                <a:lnTo>
                  <a:pt x="125954" y="278472"/>
                </a:lnTo>
                <a:lnTo>
                  <a:pt x="33702" y="370725"/>
                </a:lnTo>
                <a:lnTo>
                  <a:pt x="71537" y="370725"/>
                </a:lnTo>
                <a:lnTo>
                  <a:pt x="144877" y="297395"/>
                </a:lnTo>
                <a:lnTo>
                  <a:pt x="197721" y="297395"/>
                </a:lnTo>
                <a:lnTo>
                  <a:pt x="209954" y="289142"/>
                </a:lnTo>
                <a:lnTo>
                  <a:pt x="217427" y="278066"/>
                </a:lnTo>
                <a:lnTo>
                  <a:pt x="168525" y="278066"/>
                </a:lnTo>
                <a:lnTo>
                  <a:pt x="165108" y="277380"/>
                </a:lnTo>
                <a:lnTo>
                  <a:pt x="145296" y="254825"/>
                </a:lnTo>
                <a:lnTo>
                  <a:pt x="145296" y="247713"/>
                </a:lnTo>
                <a:lnTo>
                  <a:pt x="168525" y="224485"/>
                </a:lnTo>
                <a:lnTo>
                  <a:pt x="217435" y="224485"/>
                </a:lnTo>
                <a:lnTo>
                  <a:pt x="209954" y="213396"/>
                </a:lnTo>
                <a:lnTo>
                  <a:pt x="192920" y="201904"/>
                </a:lnTo>
                <a:lnTo>
                  <a:pt x="172081" y="197688"/>
                </a:lnTo>
                <a:close/>
              </a:path>
              <a:path w="423545" h="423545">
                <a:moveTo>
                  <a:pt x="197721" y="297395"/>
                </a:moveTo>
                <a:lnTo>
                  <a:pt x="144877" y="297395"/>
                </a:lnTo>
                <a:lnTo>
                  <a:pt x="148967" y="299491"/>
                </a:lnTo>
                <a:lnTo>
                  <a:pt x="151250" y="300634"/>
                </a:lnTo>
                <a:lnTo>
                  <a:pt x="157727" y="302914"/>
                </a:lnTo>
                <a:lnTo>
                  <a:pt x="164748" y="304357"/>
                </a:lnTo>
                <a:lnTo>
                  <a:pt x="172081" y="304850"/>
                </a:lnTo>
                <a:lnTo>
                  <a:pt x="192920" y="300634"/>
                </a:lnTo>
                <a:lnTo>
                  <a:pt x="197721" y="297395"/>
                </a:lnTo>
                <a:close/>
              </a:path>
              <a:path w="423545" h="423545">
                <a:moveTo>
                  <a:pt x="217435" y="224485"/>
                </a:moveTo>
                <a:lnTo>
                  <a:pt x="175637" y="224485"/>
                </a:lnTo>
                <a:lnTo>
                  <a:pt x="179053" y="225158"/>
                </a:lnTo>
                <a:lnTo>
                  <a:pt x="185619" y="227876"/>
                </a:lnTo>
                <a:lnTo>
                  <a:pt x="198865" y="247713"/>
                </a:lnTo>
                <a:lnTo>
                  <a:pt x="198865" y="254825"/>
                </a:lnTo>
                <a:lnTo>
                  <a:pt x="175637" y="278066"/>
                </a:lnTo>
                <a:lnTo>
                  <a:pt x="217427" y="278066"/>
                </a:lnTo>
                <a:lnTo>
                  <a:pt x="221337" y="272270"/>
                </a:lnTo>
                <a:lnTo>
                  <a:pt x="221446" y="272109"/>
                </a:lnTo>
                <a:lnTo>
                  <a:pt x="225662" y="251269"/>
                </a:lnTo>
                <a:lnTo>
                  <a:pt x="221446" y="230429"/>
                </a:lnTo>
                <a:lnTo>
                  <a:pt x="217435" y="224485"/>
                </a:lnTo>
                <a:close/>
              </a:path>
              <a:path w="423545" h="423545">
                <a:moveTo>
                  <a:pt x="381885" y="26847"/>
                </a:moveTo>
                <a:lnTo>
                  <a:pt x="332774" y="26847"/>
                </a:lnTo>
                <a:lnTo>
                  <a:pt x="342866" y="28809"/>
                </a:lnTo>
                <a:lnTo>
                  <a:pt x="351773" y="34734"/>
                </a:lnTo>
                <a:lnTo>
                  <a:pt x="388654" y="71615"/>
                </a:lnTo>
                <a:lnTo>
                  <a:pt x="394540" y="80483"/>
                </a:lnTo>
                <a:lnTo>
                  <a:pt x="396502" y="90576"/>
                </a:lnTo>
                <a:lnTo>
                  <a:pt x="394540" y="100668"/>
                </a:lnTo>
                <a:lnTo>
                  <a:pt x="388654" y="109537"/>
                </a:lnTo>
                <a:lnTo>
                  <a:pt x="332812" y="165379"/>
                </a:lnTo>
                <a:lnTo>
                  <a:pt x="370653" y="165379"/>
                </a:lnTo>
                <a:lnTo>
                  <a:pt x="407653" y="128371"/>
                </a:lnTo>
                <a:lnTo>
                  <a:pt x="419426" y="110648"/>
                </a:lnTo>
                <a:lnTo>
                  <a:pt x="423334" y="90576"/>
                </a:lnTo>
                <a:lnTo>
                  <a:pt x="421401" y="80483"/>
                </a:lnTo>
                <a:lnTo>
                  <a:pt x="419426" y="70339"/>
                </a:lnTo>
                <a:lnTo>
                  <a:pt x="407653" y="52616"/>
                </a:lnTo>
                <a:lnTo>
                  <a:pt x="381885" y="26847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73625" y="4724844"/>
            <a:ext cx="2642870" cy="176148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100" dirty="0">
                <a:solidFill>
                  <a:srgbClr val="262424"/>
                </a:solidFill>
                <a:latin typeface="Georgia"/>
                <a:cs typeface="Georgia"/>
              </a:rPr>
              <a:t>Assessing</a:t>
            </a:r>
            <a:r>
              <a:rPr sz="1750" b="1" spc="-4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750" b="1" spc="-105" dirty="0">
                <a:solidFill>
                  <a:srgbClr val="262424"/>
                </a:solidFill>
                <a:latin typeface="Georgia"/>
                <a:cs typeface="Georgia"/>
              </a:rPr>
              <a:t>Side</a:t>
            </a:r>
            <a:r>
              <a:rPr sz="1750" b="1" spc="-40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750" b="1" spc="-10" dirty="0">
                <a:solidFill>
                  <a:srgbClr val="262424"/>
                </a:solidFill>
                <a:latin typeface="Georgia"/>
                <a:cs typeface="Georgia"/>
              </a:rPr>
              <a:t>Effects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sz="1350" spc="65" dirty="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sz="1350" spc="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262424"/>
                </a:solidFill>
                <a:latin typeface="Tahoma"/>
                <a:cs typeface="Tahoma"/>
              </a:rPr>
              <a:t>analysis</a:t>
            </a:r>
            <a:r>
              <a:rPr sz="1350" spc="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aims</a:t>
            </a:r>
            <a:r>
              <a:rPr sz="135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to</a:t>
            </a:r>
            <a:r>
              <a:rPr sz="1350" spc="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understand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sz="135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262424"/>
                </a:solidFill>
                <a:latin typeface="Tahoma"/>
                <a:cs typeface="Tahoma"/>
              </a:rPr>
              <a:t>prevalence</a:t>
            </a:r>
            <a:r>
              <a:rPr sz="135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262424"/>
                </a:solidFill>
                <a:latin typeface="Tahoma"/>
                <a:cs typeface="Tahoma"/>
              </a:rPr>
              <a:t>severity</a:t>
            </a:r>
            <a:r>
              <a:rPr sz="135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of </a:t>
            </a:r>
            <a:r>
              <a:rPr sz="1350" spc="65" dirty="0">
                <a:solidFill>
                  <a:srgbClr val="262424"/>
                </a:solidFill>
                <a:latin typeface="Tahoma"/>
                <a:cs typeface="Tahoma"/>
              </a:rPr>
              <a:t>side</a:t>
            </a:r>
            <a:r>
              <a:rPr sz="1350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262424"/>
                </a:solidFill>
                <a:latin typeface="Tahoma"/>
                <a:cs typeface="Tahoma"/>
              </a:rPr>
              <a:t>effects</a:t>
            </a:r>
            <a:r>
              <a:rPr sz="135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262424"/>
                </a:solidFill>
                <a:latin typeface="Tahoma"/>
                <a:cs typeface="Tahoma"/>
              </a:rPr>
              <a:t>associated</a:t>
            </a:r>
            <a:r>
              <a:rPr sz="1350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424"/>
                </a:solidFill>
                <a:latin typeface="Tahoma"/>
                <a:cs typeface="Tahoma"/>
              </a:rPr>
              <a:t>with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different</a:t>
            </a:r>
            <a:r>
              <a:rPr sz="1350" spc="1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treatment</a:t>
            </a:r>
            <a:r>
              <a:rPr sz="1350" spc="19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modalities, </a:t>
            </a:r>
            <a:r>
              <a:rPr sz="1350" spc="20" dirty="0">
                <a:solidFill>
                  <a:srgbClr val="262424"/>
                </a:solidFill>
                <a:latin typeface="Tahoma"/>
                <a:cs typeface="Tahoma"/>
              </a:rPr>
              <a:t>particularly</a:t>
            </a:r>
            <a:r>
              <a:rPr sz="1350" spc="21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chemotherapy.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0"/>
            <a:ext cx="4286250" cy="84074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90" dirty="0"/>
              <a:t>Recovery</a:t>
            </a:r>
            <a:r>
              <a:rPr spc="-130" dirty="0"/>
              <a:t> </a:t>
            </a:r>
            <a:r>
              <a:rPr spc="-315" dirty="0"/>
              <a:t>Rate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85800" y="1155700"/>
            <a:ext cx="4636770" cy="241604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750" b="1" spc="-114" dirty="0">
                <a:solidFill>
                  <a:srgbClr val="262424"/>
                </a:solidFill>
                <a:latin typeface="Georgia"/>
                <a:cs typeface="Georgia"/>
              </a:rPr>
              <a:t>Formula: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750" spc="-114" dirty="0">
                <a:solidFill>
                  <a:srgbClr val="262424"/>
                </a:solidFill>
                <a:latin typeface="Georgia"/>
                <a:cs typeface="Georgia"/>
              </a:rPr>
              <a:t>To find the recovery rate with respect to </a:t>
            </a:r>
            <a:r>
              <a:rPr lang="en-US" sz="1750" spc="-114" dirty="0" err="1">
                <a:solidFill>
                  <a:srgbClr val="262424"/>
                </a:solidFill>
                <a:latin typeface="Georgia"/>
                <a:cs typeface="Georgia"/>
              </a:rPr>
              <a:t>intial</a:t>
            </a:r>
            <a:r>
              <a:rPr lang="en-US" sz="1750" spc="-114" dirty="0">
                <a:solidFill>
                  <a:srgbClr val="262424"/>
                </a:solidFill>
                <a:latin typeface="Georgia"/>
                <a:cs typeface="Georgia"/>
              </a:rPr>
              <a:t> dose or the dose is readjusted according to patient need use formula:</a:t>
            </a:r>
          </a:p>
          <a:p>
            <a:pPr marL="12700">
              <a:spcBef>
                <a:spcPts val="120"/>
              </a:spcBef>
            </a:pP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recovery_rate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recovery_rate.value_counts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(normalize=</a:t>
            </a:r>
            <a:r>
              <a:rPr lang="en-US" sz="2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sz="2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* </a:t>
            </a:r>
            <a:r>
              <a:rPr lang="en-US" sz="22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</a:t>
            </a:r>
            <a:endParaRPr lang="en-US" sz="2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sz="1750" dirty="0">
              <a:latin typeface="Georgia"/>
              <a:cs typeface="Georg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71453-59EB-01A4-DD95-C25BE5A4F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" y="3738593"/>
            <a:ext cx="5058481" cy="19891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29" dirty="0"/>
              <a:t>Correlation</a:t>
            </a:r>
            <a:r>
              <a:rPr spc="-135" dirty="0"/>
              <a:t> </a:t>
            </a:r>
            <a:r>
              <a:rPr spc="-325" dirty="0"/>
              <a:t>Heatmap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334000" y="5467794"/>
            <a:ext cx="5179123" cy="22313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45" dirty="0">
                <a:solidFill>
                  <a:srgbClr val="262424"/>
                </a:solidFill>
                <a:latin typeface="Tahoma"/>
                <a:cs typeface="Tahoma"/>
              </a:rPr>
              <a:t>.</a:t>
            </a:r>
            <a:endParaRPr sz="1350" dirty="0">
              <a:latin typeface="Tahoma"/>
              <a:cs typeface="Tahoma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DDBB6AE-329D-67FD-4F63-84CD9B7C9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08100"/>
            <a:ext cx="8702172" cy="68384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2566193"/>
            <a:ext cx="6076315" cy="565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90" dirty="0"/>
              <a:t>Recovery</a:t>
            </a:r>
            <a:r>
              <a:rPr spc="-105" dirty="0"/>
              <a:t> </a:t>
            </a:r>
            <a:r>
              <a:rPr spc="-250" dirty="0"/>
              <a:t>with</a:t>
            </a:r>
            <a:r>
              <a:rPr spc="-105" dirty="0"/>
              <a:t> </a:t>
            </a:r>
            <a:r>
              <a:rPr spc="-235" dirty="0"/>
              <a:t>respect</a:t>
            </a:r>
            <a:r>
              <a:rPr spc="-110" dirty="0"/>
              <a:t> </a:t>
            </a:r>
            <a:r>
              <a:rPr spc="-229" dirty="0"/>
              <a:t>to</a:t>
            </a:r>
            <a:r>
              <a:rPr spc="-105" dirty="0"/>
              <a:t> </a:t>
            </a:r>
            <a:r>
              <a:rPr spc="-275" dirty="0"/>
              <a:t>dose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BF2B778-5667-01C7-6DAB-95287E33F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289300"/>
            <a:ext cx="5962376" cy="441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851693"/>
            <a:ext cx="7947025" cy="557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90" dirty="0"/>
              <a:t>Recovery</a:t>
            </a:r>
            <a:r>
              <a:rPr spc="-105" dirty="0"/>
              <a:t> </a:t>
            </a:r>
            <a:r>
              <a:rPr spc="-250" dirty="0"/>
              <a:t>with</a:t>
            </a:r>
            <a:r>
              <a:rPr spc="-105" dirty="0"/>
              <a:t> </a:t>
            </a:r>
            <a:r>
              <a:rPr spc="-235" dirty="0"/>
              <a:t>respect</a:t>
            </a:r>
            <a:r>
              <a:rPr spc="-110" dirty="0"/>
              <a:t> </a:t>
            </a:r>
            <a:r>
              <a:rPr spc="-229" dirty="0"/>
              <a:t>to</a:t>
            </a:r>
            <a:r>
              <a:rPr spc="-105" dirty="0"/>
              <a:t> </a:t>
            </a:r>
            <a:r>
              <a:rPr lang="en-US" spc="-275" dirty="0"/>
              <a:t>treatment</a:t>
            </a:r>
            <a:endParaRPr spc="-275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DCC29-AA31-5163-028E-5F0A765A8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70100"/>
            <a:ext cx="10275152" cy="463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851693"/>
            <a:ext cx="6076315" cy="565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90" dirty="0"/>
              <a:t>Recovery</a:t>
            </a:r>
            <a:r>
              <a:rPr spc="-105" dirty="0"/>
              <a:t> </a:t>
            </a:r>
            <a:r>
              <a:rPr spc="-250" dirty="0"/>
              <a:t>with</a:t>
            </a:r>
            <a:r>
              <a:rPr spc="-105" dirty="0"/>
              <a:t> </a:t>
            </a:r>
            <a:r>
              <a:rPr spc="-235" dirty="0"/>
              <a:t>respect</a:t>
            </a:r>
            <a:r>
              <a:rPr spc="-110" dirty="0"/>
              <a:t> </a:t>
            </a:r>
            <a:r>
              <a:rPr spc="-229" dirty="0"/>
              <a:t>to</a:t>
            </a:r>
            <a:r>
              <a:rPr spc="-105" dirty="0"/>
              <a:t> </a:t>
            </a:r>
            <a:r>
              <a:rPr lang="en-US" spc="-275" dirty="0"/>
              <a:t>age</a:t>
            </a:r>
            <a:endParaRPr spc="-275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427FB8C-D764-4DDB-C428-09F83AAAC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152" y="1712565"/>
            <a:ext cx="8573696" cy="4982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600" y="423068"/>
            <a:ext cx="6629399" cy="5305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15"/>
              </a:spcBef>
            </a:pPr>
            <a:r>
              <a:rPr spc="-225" dirty="0"/>
              <a:t>Side</a:t>
            </a:r>
            <a:r>
              <a:rPr spc="-100" dirty="0"/>
              <a:t> </a:t>
            </a:r>
            <a:r>
              <a:rPr spc="-215" dirty="0"/>
              <a:t>Effect</a:t>
            </a:r>
            <a:r>
              <a:rPr spc="-90" dirty="0"/>
              <a:t> </a:t>
            </a:r>
            <a:r>
              <a:rPr spc="-204" dirty="0"/>
              <a:t>After</a:t>
            </a:r>
            <a:r>
              <a:rPr lang="en-US" spc="-204" dirty="0"/>
              <a:t> </a:t>
            </a:r>
            <a:r>
              <a:rPr spc="-270" dirty="0"/>
              <a:t>Chemotherapy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343441-FDF0-CE61-A313-CAE394C1F0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25" r="918"/>
          <a:stretch/>
        </p:blipFill>
        <p:spPr>
          <a:xfrm>
            <a:off x="747019" y="1689100"/>
            <a:ext cx="9844781" cy="5162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600" y="423068"/>
            <a:ext cx="6629399" cy="1094787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15"/>
              </a:spcBef>
            </a:pPr>
            <a:r>
              <a:rPr spc="-225" dirty="0"/>
              <a:t>Side</a:t>
            </a:r>
            <a:r>
              <a:rPr spc="-100" dirty="0"/>
              <a:t> </a:t>
            </a:r>
            <a:r>
              <a:rPr spc="-215" dirty="0"/>
              <a:t>Effect</a:t>
            </a:r>
            <a:r>
              <a:rPr spc="-90" dirty="0"/>
              <a:t> </a:t>
            </a:r>
            <a:r>
              <a:rPr spc="-204" dirty="0"/>
              <a:t>After</a:t>
            </a:r>
            <a:r>
              <a:rPr lang="en-US" spc="-204" dirty="0"/>
              <a:t> </a:t>
            </a:r>
            <a:r>
              <a:rPr spc="-270" dirty="0"/>
              <a:t>Chemotherapy</a:t>
            </a:r>
            <a:r>
              <a:rPr lang="en-US" spc="-270" dirty="0"/>
              <a:t> in different stages</a:t>
            </a:r>
            <a:endParaRPr spc="-27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93CE63-B87C-3C00-03F2-677C50199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27300"/>
            <a:ext cx="9376270" cy="382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6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600" y="423068"/>
            <a:ext cx="6629399" cy="1094787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15"/>
              </a:spcBef>
            </a:pPr>
            <a:r>
              <a:rPr spc="-225" dirty="0"/>
              <a:t>Side</a:t>
            </a:r>
            <a:r>
              <a:rPr spc="-100" dirty="0"/>
              <a:t> </a:t>
            </a:r>
            <a:r>
              <a:rPr spc="-215" dirty="0"/>
              <a:t>Effect</a:t>
            </a:r>
            <a:r>
              <a:rPr spc="-90" dirty="0"/>
              <a:t> </a:t>
            </a:r>
            <a:r>
              <a:rPr spc="-204" dirty="0"/>
              <a:t>After</a:t>
            </a:r>
            <a:r>
              <a:rPr lang="en-US" spc="-204" dirty="0"/>
              <a:t> </a:t>
            </a:r>
            <a:r>
              <a:rPr spc="-270" dirty="0"/>
              <a:t>Chemotherapy</a:t>
            </a:r>
            <a:r>
              <a:rPr lang="en-US" spc="-270" dirty="0"/>
              <a:t> in different stages</a:t>
            </a:r>
            <a:endParaRPr spc="-27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9AEE1C-7279-0D97-D29E-5377C3C65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310" y="2069802"/>
            <a:ext cx="7373379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074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600" y="423068"/>
            <a:ext cx="6629399" cy="1094787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15"/>
              </a:spcBef>
            </a:pPr>
            <a:r>
              <a:rPr spc="-225" dirty="0"/>
              <a:t>Side</a:t>
            </a:r>
            <a:r>
              <a:rPr spc="-100" dirty="0"/>
              <a:t> </a:t>
            </a:r>
            <a:r>
              <a:rPr spc="-215" dirty="0"/>
              <a:t>Effect</a:t>
            </a:r>
            <a:r>
              <a:rPr spc="-90" dirty="0"/>
              <a:t> </a:t>
            </a:r>
            <a:r>
              <a:rPr spc="-204" dirty="0"/>
              <a:t>After</a:t>
            </a:r>
            <a:r>
              <a:rPr lang="en-US" spc="-204" dirty="0"/>
              <a:t> </a:t>
            </a:r>
            <a:r>
              <a:rPr spc="-270" dirty="0"/>
              <a:t>Chemotherapy</a:t>
            </a:r>
            <a:r>
              <a:rPr lang="en-US" spc="-270" dirty="0"/>
              <a:t> in different stages</a:t>
            </a:r>
            <a:endParaRPr spc="-27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A78A46-37DD-64D5-D509-3FE6F1CC7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626" y="2074565"/>
            <a:ext cx="6782747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0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600" y="423068"/>
            <a:ext cx="6629399" cy="1094787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15"/>
              </a:spcBef>
            </a:pPr>
            <a:r>
              <a:rPr spc="-225" dirty="0"/>
              <a:t>Side</a:t>
            </a:r>
            <a:r>
              <a:rPr spc="-100" dirty="0"/>
              <a:t> </a:t>
            </a:r>
            <a:r>
              <a:rPr spc="-215" dirty="0"/>
              <a:t>Effect</a:t>
            </a:r>
            <a:r>
              <a:rPr spc="-90" dirty="0"/>
              <a:t> </a:t>
            </a:r>
            <a:r>
              <a:rPr spc="-204" dirty="0"/>
              <a:t>After</a:t>
            </a:r>
            <a:r>
              <a:rPr lang="en-US" spc="-204" dirty="0"/>
              <a:t> </a:t>
            </a:r>
            <a:r>
              <a:rPr spc="-270" dirty="0"/>
              <a:t>Chemotherapy</a:t>
            </a:r>
            <a:r>
              <a:rPr lang="en-US" spc="-270" dirty="0"/>
              <a:t> in different stages</a:t>
            </a:r>
            <a:endParaRPr spc="-27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B40DA-4DEA-1DBA-1C0A-AE1385F11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784" y="2107907"/>
            <a:ext cx="7392432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2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600" y="423068"/>
            <a:ext cx="6629399" cy="1094787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15"/>
              </a:spcBef>
            </a:pPr>
            <a:r>
              <a:rPr spc="-225" dirty="0"/>
              <a:t>Side</a:t>
            </a:r>
            <a:r>
              <a:rPr spc="-100" dirty="0"/>
              <a:t> </a:t>
            </a:r>
            <a:r>
              <a:rPr spc="-215" dirty="0"/>
              <a:t>Effect</a:t>
            </a:r>
            <a:r>
              <a:rPr spc="-90" dirty="0"/>
              <a:t> </a:t>
            </a:r>
            <a:r>
              <a:rPr spc="-204" dirty="0"/>
              <a:t>After</a:t>
            </a:r>
            <a:r>
              <a:rPr lang="en-US" spc="-204" dirty="0"/>
              <a:t> </a:t>
            </a:r>
            <a:r>
              <a:rPr spc="-270" dirty="0"/>
              <a:t>Chemotherapy</a:t>
            </a:r>
            <a:r>
              <a:rPr lang="en-US" spc="-270" dirty="0"/>
              <a:t> in different stages</a:t>
            </a:r>
            <a:endParaRPr spc="-27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47099F-AA4A-4838-AEEA-F066C0D9C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416" y="2060276"/>
            <a:ext cx="6935168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4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84071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937543"/>
            <a:ext cx="2386330" cy="565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00" dirty="0"/>
              <a:t>Conclusion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F998F8A-A53C-0768-AD04-3C4E50D1F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73625" y="2344827"/>
            <a:ext cx="428625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rates vary significantly across age groups, cancer stages, and treatment types, emphasizing the importance of early detection and personalized care.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correlations were observed between treatment responses and factors like age, radiation, and hormonal therapies.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Tailored approaches to manage side effects can enhance patient outcomes and improve treatment tolerability.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282</Words>
  <Application>Microsoft Office PowerPoint</Application>
  <PresentationFormat>Custom</PresentationFormat>
  <Paragraphs>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Courier New</vt:lpstr>
      <vt:lpstr>Georgia</vt:lpstr>
      <vt:lpstr>Tahoma</vt:lpstr>
      <vt:lpstr>Office Theme</vt:lpstr>
      <vt:lpstr>Analysis of Breast Cancer</vt:lpstr>
      <vt:lpstr>Data Collection and Cleaning</vt:lpstr>
      <vt:lpstr>Objective</vt:lpstr>
      <vt:lpstr>Recovery Rate</vt:lpstr>
      <vt:lpstr>Correlation Heatmap</vt:lpstr>
      <vt:lpstr>Recovery with respect to dose</vt:lpstr>
      <vt:lpstr>Recovery with respect to treatment</vt:lpstr>
      <vt:lpstr>Recovery with respect to age</vt:lpstr>
      <vt:lpstr>Side Effect After Chemotherapy</vt:lpstr>
      <vt:lpstr>Side Effect After Chemotherapy in different stages</vt:lpstr>
      <vt:lpstr>Side Effect After Chemotherapy in different stages</vt:lpstr>
      <vt:lpstr>Side Effect After Chemotherapy in different stages</vt:lpstr>
      <vt:lpstr>Side Effect After Chemotherapy in different stages</vt:lpstr>
      <vt:lpstr>Side Effect After Chemotherapy in different stages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Afshanaliabbasi1@gmail.com</cp:lastModifiedBy>
  <cp:revision>5</cp:revision>
  <dcterms:created xsi:type="dcterms:W3CDTF">2024-12-29T16:26:46Z</dcterms:created>
  <dcterms:modified xsi:type="dcterms:W3CDTF">2024-12-31T16:01:34Z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2024-12-29T00:00:00Z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2024-12-29T00:00:00Z</vt:filetime>
  </property>
  <property fmtid="{D5CDD505-2E9C-101B-9397-08002B2CF9AE}" pid="5" name="Producer">
    <vt:lpwstr>GPL Ghostscript 10.02.0</vt:lpwstr>
  </property>
</Properties>
</file>